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402254" y="5326054"/>
            <a:ext cx="7181826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008106" y="2520445"/>
            <a:ext cx="10271788" cy="25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RETAINX – CUSTOMER RETENTION &amp; CHURN ANALYTICS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03920" y="5829907"/>
            <a:ext cx="6880159" cy="104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ANALYTICS PROJECT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| SQL | POWER BI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262813"/>
            <a:ext cx="182880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UJJWAL VERMA | DATA ANALYST | SQL • PYTHON • POWER BI • EXCEL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002942" y="1767066"/>
            <a:ext cx="4590009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45758" y="3734335"/>
            <a:ext cx="702627" cy="548049"/>
          </a:xfrm>
          <a:custGeom>
            <a:avLst/>
            <a:gdLst/>
            <a:ahLst/>
            <a:cxnLst/>
            <a:rect r="r" b="b" t="t" l="l"/>
            <a:pathLst>
              <a:path h="548049" w="702627">
                <a:moveTo>
                  <a:pt x="0" y="0"/>
                </a:moveTo>
                <a:lnTo>
                  <a:pt x="702627" y="0"/>
                </a:lnTo>
                <a:lnTo>
                  <a:pt x="702627" y="548048"/>
                </a:lnTo>
                <a:lnTo>
                  <a:pt x="0" y="54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92002" y="651864"/>
            <a:ext cx="8948790" cy="137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CONTEXT &amp; PROBLEM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98466" y="4707993"/>
            <a:ext cx="2690538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</a:t>
            </a:r>
            <a:r>
              <a:rPr lang="en-US" sz="3200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This Problem Matters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280530" y="2241381"/>
            <a:ext cx="14224498" cy="570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Customer churn is one of the biggest revenue risks for Telecom, SaaS, OTT &amp; FinTech companies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Acquiring new customers costs 5–7x more than retaining existing ones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Businesses struggle to: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1. Identify why customers churn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2. Detect who is at risk early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3. Quantify revenue impact of churn    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587609" y="8198019"/>
            <a:ext cx="12532970" cy="118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Enable leadership to reduce churn and protect revenue using data-driven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16852" y="592299"/>
            <a:ext cx="11077654" cy="173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OBJECTIVES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928424" y="1980875"/>
            <a:ext cx="671981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RetainX Solves</a:t>
            </a:r>
          </a:p>
          <a:p>
            <a:pPr algn="l">
              <a:lnSpc>
                <a:spcPts val="45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5842" y="3107353"/>
            <a:ext cx="13664915" cy="570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Analyze customer behavior and churn patterns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Segment customers by: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1.  Usage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2.  Tenure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3. Revenue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Identify high-value customers at risk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Quantify revenue at risk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Deliver executive-ready dashboards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50674" y="8749665"/>
            <a:ext cx="15786651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project simulates how analytics teams work in real companies.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5581043" y="2767434"/>
            <a:ext cx="5921185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1825" y="3924387"/>
            <a:ext cx="3964023" cy="119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Source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12582938" y="4733479"/>
            <a:ext cx="1418771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897071" y="4757292"/>
            <a:ext cx="1982012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73033" y="667474"/>
            <a:ext cx="8394295" cy="30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8"/>
              </a:lnSpc>
            </a:pPr>
            <a:r>
              <a:rPr lang="en-US" sz="6148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&amp; TOOLS OVERVIEW</a:t>
            </a:r>
          </a:p>
          <a:p>
            <a:pPr algn="l">
              <a:lnSpc>
                <a:spcPts val="71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36611" y="4852542"/>
            <a:ext cx="8917686" cy="507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Database: PostgreSQL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Data Processing: SQL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EDA &amp; Validation: Python (Pandas, NumPy, MatPlotlib, Seaborn)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Reporting: Excel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Visualization: Power BI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Version Control: Git &amp; GitHub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09717"/>
            <a:ext cx="6671344" cy="15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Public Telecom Customer Dataset (Kaggle)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1825" y="6652817"/>
            <a:ext cx="6632808" cy="15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2. C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ustomer-level behavioral &amp; churn data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827971" y="3924892"/>
            <a:ext cx="3964023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411509" y="478730"/>
            <a:ext cx="18288000" cy="177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6"/>
              </a:lnSpc>
            </a:pPr>
            <a:r>
              <a:rPr lang="en-US" b="true" sz="514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WORKFLOW</a:t>
            </a:r>
          </a:p>
          <a:p>
            <a:pPr algn="ctr">
              <a:lnSpc>
                <a:spcPts val="719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40548" y="3807277"/>
            <a:ext cx="10293215" cy="507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1. Business Understanding &amp; KPI Definition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2. Data Ingestion (Raw Layer)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3. Feature Engineering (SQL)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4. Analytical Table Creation (Gold Layer)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5. Python EDA &amp; Validation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6. Power BI Dashboarding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7. Business Insights &amp; Recommendations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118091" y="2124885"/>
            <a:ext cx="18288000" cy="59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Project Was Executed</a:t>
            </a:r>
          </a:p>
        </p:txBody>
      </p:sp>
      <p:sp>
        <p:nvSpPr>
          <p:cNvPr name="AutoShape 5" id="5"/>
          <p:cNvSpPr/>
          <p:nvPr/>
        </p:nvSpPr>
        <p:spPr>
          <a:xfrm>
            <a:off x="7529725" y="3078614"/>
            <a:ext cx="3464731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035424" y="625538"/>
            <a:ext cx="18288000" cy="1817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4"/>
              </a:lnSpc>
            </a:pPr>
            <a:r>
              <a:rPr lang="en-US" b="true" sz="5253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ARCHITECTURE</a:t>
            </a:r>
          </a:p>
          <a:p>
            <a:pPr algn="ctr">
              <a:lnSpc>
                <a:spcPts val="735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1876330" y="2282323"/>
            <a:ext cx="18288000" cy="66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LAYERED DATA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761" y="4094002"/>
            <a:ext cx="12015327" cy="65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Raw Layer 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Original data ingested into PostgreSQL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Transformation Layer 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Revenue segmentation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Usage score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Usage category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Tenure calculation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5456406" y="3301775"/>
            <a:ext cx="3622529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879987" y="5294218"/>
            <a:ext cx="9272999" cy="418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Analytical (Gold) Layer 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Customer segmentation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Business-ready fact table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Optimized for Power BI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4189" y="1204330"/>
            <a:ext cx="12129275" cy="19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6"/>
              </a:lnSpc>
            </a:pPr>
            <a:r>
              <a:rPr lang="en-US" b="true" sz="5497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KPIS DEFINED</a:t>
            </a:r>
          </a:p>
          <a:p>
            <a:pPr algn="ctr">
              <a:lnSpc>
                <a:spcPts val="7696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014335" y="2641618"/>
            <a:ext cx="3399334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452250"/>
            <a:ext cx="8592344" cy="658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Business Metrics Tracked 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1. Total Customers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2.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Total Churned Customers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3.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Churn Rate (%)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4 .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Average Revenue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5.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Revenue at Risk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6.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High-Value Customers at Risk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959743" y="3452250"/>
            <a:ext cx="6069625" cy="418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Churn Analysis By 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1. Usage Category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2. Customer Segment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3. Tenure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4.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Geography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08252" y="517022"/>
            <a:ext cx="7871496" cy="15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444333" y="2019783"/>
            <a:ext cx="3399334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521517" y="3531941"/>
            <a:ext cx="11837991" cy="6351617"/>
          </a:xfrm>
          <a:custGeom>
            <a:avLst/>
            <a:gdLst/>
            <a:ahLst/>
            <a:cxnLst/>
            <a:rect r="r" b="b" t="t" l="l"/>
            <a:pathLst>
              <a:path h="6351617" w="11837991">
                <a:moveTo>
                  <a:pt x="0" y="0"/>
                </a:moveTo>
                <a:lnTo>
                  <a:pt x="11837991" y="0"/>
                </a:lnTo>
                <a:lnTo>
                  <a:pt x="11837991" y="6351617"/>
                </a:lnTo>
                <a:lnTo>
                  <a:pt x="0" y="6351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9" r="0" b="-171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61226" y="2195172"/>
            <a:ext cx="7015636" cy="157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Overall churn health of the business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Revenue exposure at a glance</a:t>
            </a:r>
          </a:p>
          <a:p>
            <a:pPr algn="l" marL="453390" indent="-226695" lvl="1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Customer distribution by risk level</a:t>
            </a:r>
          </a:p>
          <a:p>
            <a:pPr algn="l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17022"/>
            <a:ext cx="18288000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7444333" y="2019783"/>
            <a:ext cx="3399334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86133" y="2435802"/>
            <a:ext cx="13315735" cy="7373588"/>
          </a:xfrm>
          <a:custGeom>
            <a:avLst/>
            <a:gdLst/>
            <a:ahLst/>
            <a:cxnLst/>
            <a:rect r="r" b="b" t="t" l="l"/>
            <a:pathLst>
              <a:path h="7373588" w="13315735">
                <a:moveTo>
                  <a:pt x="0" y="0"/>
                </a:moveTo>
                <a:lnTo>
                  <a:pt x="13315734" y="0"/>
                </a:lnTo>
                <a:lnTo>
                  <a:pt x="13315734" y="7373588"/>
                </a:lnTo>
                <a:lnTo>
                  <a:pt x="0" y="737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5067" y="2261363"/>
            <a:ext cx="13221030" cy="7370724"/>
          </a:xfrm>
          <a:custGeom>
            <a:avLst/>
            <a:gdLst/>
            <a:ahLst/>
            <a:cxnLst/>
            <a:rect r="r" b="b" t="t" l="l"/>
            <a:pathLst>
              <a:path h="7370724" w="13221030">
                <a:moveTo>
                  <a:pt x="0" y="0"/>
                </a:moveTo>
                <a:lnTo>
                  <a:pt x="13221029" y="0"/>
                </a:lnTo>
                <a:lnTo>
                  <a:pt x="13221029" y="7370724"/>
                </a:lnTo>
                <a:lnTo>
                  <a:pt x="0" y="737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8252" y="517022"/>
            <a:ext cx="7871496" cy="15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7444333" y="2019783"/>
            <a:ext cx="3399334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9735" y="2581564"/>
            <a:ext cx="12552536" cy="6998039"/>
          </a:xfrm>
          <a:custGeom>
            <a:avLst/>
            <a:gdLst/>
            <a:ahLst/>
            <a:cxnLst/>
            <a:rect r="r" b="b" t="t" l="l"/>
            <a:pathLst>
              <a:path h="6998039" w="12552536">
                <a:moveTo>
                  <a:pt x="0" y="0"/>
                </a:moveTo>
                <a:lnTo>
                  <a:pt x="12552535" y="0"/>
                </a:lnTo>
                <a:lnTo>
                  <a:pt x="12552535" y="6998038"/>
                </a:lnTo>
                <a:lnTo>
                  <a:pt x="0" y="6998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86979" y="1054991"/>
            <a:ext cx="7871496" cy="15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7523060" y="2282206"/>
            <a:ext cx="3399334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883524" y="2976766"/>
            <a:ext cx="2940858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198363" y="1818319"/>
            <a:ext cx="10074970" cy="81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5018" y="4032383"/>
            <a:ext cx="14861316" cy="418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What We Learned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1. Low usage is the strongest churn indicator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2.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Longer tenure → higher retention 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3.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High-income churn causes disproportionate revenue loss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4.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Geographic churn patterns are non-uniform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5. 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Early identification can prevent significant losses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450525" y="2228858"/>
            <a:ext cx="2940858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807517" y="1044169"/>
            <a:ext cx="12856662" cy="165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</a:t>
            </a: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SINESS RECOMMENDATIONS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996199" y="5389573"/>
            <a:ext cx="12295602" cy="298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troduce usage-based retention offers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oactively target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h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igh-income, low-usage customers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Launch r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egion-specific churn campaigns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Build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e</a:t>
            </a:r>
            <a:r>
              <a:rPr lang="en-US" sz="3399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arly-warning churn flags using usage trends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529479" y="3786365"/>
            <a:ext cx="7722692" cy="156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ACTIONABLE NEXT STEPS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27647" y="5816847"/>
            <a:ext cx="2468496" cy="0"/>
          </a:xfrm>
          <a:prstGeom prst="line">
            <a:avLst/>
          </a:prstGeom>
          <a:ln cap="flat" w="47625">
            <a:solidFill>
              <a:srgbClr val="A282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33563" y="4694864"/>
            <a:ext cx="12856662" cy="81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DAG-SvPB3Wg</dc:identifier>
  <dcterms:modified xsi:type="dcterms:W3CDTF">2011-08-01T06:04:30Z</dcterms:modified>
  <cp:revision>1</cp:revision>
  <dc:title>Modern Pitch Deck Presentation Template</dc:title>
</cp:coreProperties>
</file>